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10"/>
  </p:notesMasterIdLst>
  <p:sldIdLst>
    <p:sldId id="256" r:id="rId2"/>
    <p:sldId id="257" r:id="rId3"/>
    <p:sldId id="258" r:id="rId4"/>
    <p:sldId id="259" r:id="rId5"/>
    <p:sldId id="262" r:id="rId6"/>
    <p:sldId id="260"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CDC8"/>
    <a:srgbClr val="FAF8F6"/>
    <a:srgbClr val="F2F4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68"/>
  </p:normalViewPr>
  <p:slideViewPr>
    <p:cSldViewPr snapToGrid="0">
      <p:cViewPr varScale="1">
        <p:scale>
          <a:sx n="119" d="100"/>
          <a:sy n="119" d="100"/>
        </p:scale>
        <p:origin x="21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875D9-1AF0-9D45-918F-F18D55B70412}" type="datetimeFigureOut">
              <a:rPr lang="en-US" smtClean="0"/>
              <a:t>4/22/26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71D958-5BB0-0741-BF76-C8CAADD88EBF}" type="slidenum">
              <a:rPr lang="en-US" smtClean="0"/>
              <a:t>‹#›</a:t>
            </a:fld>
            <a:endParaRPr lang="en-US"/>
          </a:p>
        </p:txBody>
      </p:sp>
    </p:spTree>
    <p:extLst>
      <p:ext uri="{BB962C8B-B14F-4D97-AF65-F5344CB8AC3E}">
        <p14:creationId xmlns:p14="http://schemas.microsoft.com/office/powerpoint/2010/main" val="1299052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71D958-5BB0-0741-BF76-C8CAADD88EBF}" type="slidenum">
              <a:rPr lang="en-US" smtClean="0"/>
              <a:t>3</a:t>
            </a:fld>
            <a:endParaRPr lang="en-US"/>
          </a:p>
        </p:txBody>
      </p:sp>
    </p:spTree>
    <p:extLst>
      <p:ext uri="{BB962C8B-B14F-4D97-AF65-F5344CB8AC3E}">
        <p14:creationId xmlns:p14="http://schemas.microsoft.com/office/powerpoint/2010/main" val="3386619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CBB18-1E48-B5E6-5A45-A73A79863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52FAF-3552-0E78-0C00-C093A1C3C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284A6-AE49-73AF-7139-D089A0F8D7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919283-3734-21F6-2D90-90A1DCB70D26}"/>
              </a:ext>
            </a:extLst>
          </p:cNvPr>
          <p:cNvSpPr>
            <a:spLocks noGrp="1"/>
          </p:cNvSpPr>
          <p:nvPr>
            <p:ph type="sldNum" sz="quarter" idx="5"/>
          </p:nvPr>
        </p:nvSpPr>
        <p:spPr/>
        <p:txBody>
          <a:bodyPr/>
          <a:lstStyle/>
          <a:p>
            <a:fld id="{5C71D958-5BB0-0741-BF76-C8CAADD88EBF}" type="slidenum">
              <a:rPr lang="en-US" smtClean="0"/>
              <a:t>6</a:t>
            </a:fld>
            <a:endParaRPr lang="en-US"/>
          </a:p>
        </p:txBody>
      </p:sp>
    </p:spTree>
    <p:extLst>
      <p:ext uri="{BB962C8B-B14F-4D97-AF65-F5344CB8AC3E}">
        <p14:creationId xmlns:p14="http://schemas.microsoft.com/office/powerpoint/2010/main" val="3490578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2DD15-A287-E942-838C-324ED44B5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7A462-C94E-C453-2E28-499D945E5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2AE8E1-807C-863A-7368-30AA8EB821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2BD2F0-2470-5F0A-4B82-DA4B90261A46}"/>
              </a:ext>
            </a:extLst>
          </p:cNvPr>
          <p:cNvSpPr>
            <a:spLocks noGrp="1"/>
          </p:cNvSpPr>
          <p:nvPr>
            <p:ph type="sldNum" sz="quarter" idx="5"/>
          </p:nvPr>
        </p:nvSpPr>
        <p:spPr/>
        <p:txBody>
          <a:bodyPr/>
          <a:lstStyle/>
          <a:p>
            <a:fld id="{5C71D958-5BB0-0741-BF76-C8CAADD88EBF}" type="slidenum">
              <a:rPr lang="en-US" smtClean="0"/>
              <a:t>7</a:t>
            </a:fld>
            <a:endParaRPr lang="en-US"/>
          </a:p>
        </p:txBody>
      </p:sp>
    </p:spTree>
    <p:extLst>
      <p:ext uri="{BB962C8B-B14F-4D97-AF65-F5344CB8AC3E}">
        <p14:creationId xmlns:p14="http://schemas.microsoft.com/office/powerpoint/2010/main" val="228840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34353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89956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5984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18689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93825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4619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60051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00575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84483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29054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4/22/26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7061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4/22/26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1789076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6" r:id="rId6"/>
    <p:sldLayoutId id="2147483691" r:id="rId7"/>
    <p:sldLayoutId id="2147483692" r:id="rId8"/>
    <p:sldLayoutId id="2147483693" r:id="rId9"/>
    <p:sldLayoutId id="2147483695" r:id="rId10"/>
    <p:sldLayoutId id="2147483694"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A pencil drawing a line on a white surface">
            <a:extLst>
              <a:ext uri="{FF2B5EF4-FFF2-40B4-BE49-F238E27FC236}">
                <a16:creationId xmlns:a16="http://schemas.microsoft.com/office/drawing/2014/main" id="{AF64B4CC-DA3F-640D-D34D-33D64B446781}"/>
              </a:ext>
            </a:extLst>
          </p:cNvPr>
          <p:cNvPicPr>
            <a:picLocks noChangeAspect="1"/>
          </p:cNvPicPr>
          <p:nvPr/>
        </p:nvPicPr>
        <p:blipFill>
          <a:blip r:embed="rId2"/>
          <a:srcRect l="2125" r="6966" b="23391"/>
          <a:stretch>
            <a:fillRect/>
          </a:stretch>
        </p:blipFill>
        <p:spPr>
          <a:xfrm>
            <a:off x="20" y="10"/>
            <a:ext cx="12191979" cy="6857990"/>
          </a:xfrm>
          <a:prstGeom prst="rect">
            <a:avLst/>
          </a:prstGeom>
        </p:spPr>
      </p:pic>
      <p:sp>
        <p:nvSpPr>
          <p:cNvPr id="23" name="Rectangle 22">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97B352C-D0E4-2820-A385-649B15388C57}"/>
              </a:ext>
            </a:extLst>
          </p:cNvPr>
          <p:cNvSpPr>
            <a:spLocks noGrp="1"/>
          </p:cNvSpPr>
          <p:nvPr>
            <p:ph type="ctrTitle"/>
          </p:nvPr>
        </p:nvSpPr>
        <p:spPr>
          <a:xfrm>
            <a:off x="438910" y="978408"/>
            <a:ext cx="4795819" cy="3969960"/>
          </a:xfrm>
        </p:spPr>
        <p:txBody>
          <a:bodyPr anchor="t">
            <a:normAutofit/>
          </a:bodyPr>
          <a:lstStyle/>
          <a:p>
            <a:pPr>
              <a:lnSpc>
                <a:spcPct val="90000"/>
              </a:lnSpc>
            </a:pPr>
            <a:r>
              <a:rPr lang="en-IN" sz="4800" dirty="0" err="1">
                <a:ln w="3175">
                  <a:noFill/>
                </a:ln>
                <a:solidFill>
                  <a:schemeClr val="bg1"/>
                </a:solidFill>
                <a:effectLst/>
                <a:latin typeface="Times New Roman" panose="02020603050405020304" pitchFamily="18" charset="0"/>
                <a:cs typeface="Times New Roman" panose="02020603050405020304" pitchFamily="18" charset="0"/>
              </a:rPr>
              <a:t>ForgeryGuard</a:t>
            </a:r>
            <a:r>
              <a:rPr lang="en-IN" sz="4800" dirty="0">
                <a:ln w="3175">
                  <a:noFill/>
                </a:ln>
                <a:solidFill>
                  <a:schemeClr val="bg1"/>
                </a:solidFill>
                <a:effectLst/>
                <a:latin typeface="Times New Roman" panose="02020603050405020304" pitchFamily="18" charset="0"/>
                <a:cs typeface="Times New Roman" panose="02020603050405020304" pitchFamily="18" charset="0"/>
              </a:rPr>
              <a:t>:</a:t>
            </a:r>
            <a:br>
              <a:rPr lang="en-IN" sz="4800" dirty="0">
                <a:ln w="3175">
                  <a:noFill/>
                </a:ln>
                <a:solidFill>
                  <a:schemeClr val="bg1"/>
                </a:solidFill>
                <a:effectLst/>
                <a:latin typeface="Times New Roman" panose="02020603050405020304" pitchFamily="18" charset="0"/>
                <a:cs typeface="Times New Roman" panose="02020603050405020304" pitchFamily="18" charset="0"/>
              </a:rPr>
            </a:br>
            <a:r>
              <a:rPr lang="en-IN" sz="4800" b="0" dirty="0">
                <a:ln w="3175">
                  <a:noFill/>
                </a:ln>
                <a:solidFill>
                  <a:schemeClr val="bg1"/>
                </a:solidFill>
                <a:effectLst/>
                <a:latin typeface="Times New Roman" panose="02020603050405020304" pitchFamily="18" charset="0"/>
                <a:cs typeface="Times New Roman" panose="02020603050405020304" pitchFamily="18" charset="0"/>
              </a:rPr>
              <a:t>Handwriting Forgery Detection using Siamese Networks</a:t>
            </a:r>
            <a:endParaRPr lang="en-US" sz="4800" b="0" dirty="0">
              <a:ln w="3175">
                <a:noFill/>
              </a:ln>
              <a:solidFill>
                <a:schemeClr val="bg1"/>
              </a:solidFill>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0D1F90D-69CD-B73C-88EB-D04A7609A461}"/>
              </a:ext>
            </a:extLst>
          </p:cNvPr>
          <p:cNvSpPr>
            <a:spLocks noGrp="1"/>
          </p:cNvSpPr>
          <p:nvPr>
            <p:ph type="subTitle" idx="1"/>
          </p:nvPr>
        </p:nvSpPr>
        <p:spPr>
          <a:xfrm>
            <a:off x="5914550" y="5881389"/>
            <a:ext cx="6177046" cy="772206"/>
          </a:xfrm>
        </p:spPr>
        <p:txBody>
          <a:bodyPr anchor="b">
            <a:normAutofit lnSpcReduction="10000"/>
          </a:bodyPr>
          <a:lstStyle/>
          <a:p>
            <a:pPr algn="ctr">
              <a:lnSpc>
                <a:spcPct val="100000"/>
              </a:lnSpc>
            </a:pPr>
            <a:r>
              <a:rPr lang="en-US" sz="2000" i="0" dirty="0">
                <a:solidFill>
                  <a:schemeClr val="bg1"/>
                </a:solidFill>
                <a:latin typeface="Times New Roman" panose="02020603050405020304" pitchFamily="18" charset="0"/>
                <a:cs typeface="Times New Roman" panose="02020603050405020304" pitchFamily="18" charset="0"/>
              </a:rPr>
              <a:t>CS5330 Pattern Recognition and Computer Vision</a:t>
            </a:r>
          </a:p>
          <a:p>
            <a:pPr algn="ctr">
              <a:lnSpc>
                <a:spcPct val="100000"/>
              </a:lnSpc>
            </a:pPr>
            <a:r>
              <a:rPr lang="en-US" sz="2000" i="0" dirty="0">
                <a:solidFill>
                  <a:schemeClr val="bg1"/>
                </a:solidFill>
                <a:latin typeface="Times New Roman" panose="02020603050405020304" pitchFamily="18" charset="0"/>
                <a:cs typeface="Times New Roman" panose="02020603050405020304" pitchFamily="18" charset="0"/>
              </a:rPr>
              <a:t>A presentation by Shamya Haria</a:t>
            </a:r>
          </a:p>
        </p:txBody>
      </p:sp>
      <p:sp>
        <p:nvSpPr>
          <p:cNvPr id="24" name="Rectangle 23">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525106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pencil drawing a line on a white surface">
            <a:extLst>
              <a:ext uri="{FF2B5EF4-FFF2-40B4-BE49-F238E27FC236}">
                <a16:creationId xmlns:a16="http://schemas.microsoft.com/office/drawing/2014/main" id="{2FCC9B1C-E9A8-C82F-38D6-AB3012CBB07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20000"/>
                    </a14:imgEffect>
                  </a14:imgLayer>
                </a14:imgProps>
              </a:ext>
            </a:extLst>
          </a:blip>
          <a:srcRect l="2125" r="6966" b="23391"/>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745EA4D7-50E5-8770-101E-F729E36E6CD7}"/>
              </a:ext>
            </a:extLst>
          </p:cNvPr>
          <p:cNvSpPr>
            <a:spLocks noGrp="1"/>
          </p:cNvSpPr>
          <p:nvPr>
            <p:ph type="title"/>
          </p:nvPr>
        </p:nvSpPr>
        <p:spPr>
          <a:xfrm>
            <a:off x="144690" y="268940"/>
            <a:ext cx="11155680" cy="1333555"/>
          </a:xfrm>
        </p:spPr>
        <p:txBody>
          <a:bodyPr>
            <a:normAutofit/>
          </a:bodyPr>
          <a:lstStyle/>
          <a:p>
            <a:pPr algn="ctr"/>
            <a:r>
              <a:rPr lang="en-US" sz="4800" dirty="0">
                <a:ln w="3175">
                  <a:noFill/>
                </a:ln>
                <a:latin typeface="Times New Roman" panose="02020603050405020304" pitchFamily="18" charset="0"/>
                <a:cs typeface="Times New Roman" panose="02020603050405020304" pitchFamily="18" charset="0"/>
              </a:rPr>
              <a:t>The Problem</a:t>
            </a:r>
          </a:p>
        </p:txBody>
      </p:sp>
      <p:pic>
        <p:nvPicPr>
          <p:cNvPr id="6" name="Content Placeholder 4" descr="A piece of paper with writing on it&#10;&#10;AI-generated content may be incorrect.">
            <a:extLst>
              <a:ext uri="{FF2B5EF4-FFF2-40B4-BE49-F238E27FC236}">
                <a16:creationId xmlns:a16="http://schemas.microsoft.com/office/drawing/2014/main" id="{2C4147E8-D158-EBCA-9A88-096BDF8BEAC4}"/>
              </a:ext>
            </a:extLst>
          </p:cNvPr>
          <p:cNvPicPr>
            <a:picLocks noChangeAspect="1"/>
          </p:cNvPicPr>
          <p:nvPr/>
        </p:nvPicPr>
        <p:blipFill>
          <a:blip r:embed="rId4"/>
          <a:srcRect l="19016" t="25464" r="60958" b="14970"/>
          <a:stretch>
            <a:fillRect/>
          </a:stretch>
        </p:blipFill>
        <p:spPr>
          <a:xfrm rot="5400000">
            <a:off x="5304642" y="661166"/>
            <a:ext cx="1756260" cy="3917812"/>
          </a:xfrm>
          <a:prstGeom prst="rect">
            <a:avLst/>
          </a:prstGeom>
          <a:ln w="38100">
            <a:solidFill>
              <a:schemeClr val="tx1"/>
            </a:solidFill>
          </a:ln>
        </p:spPr>
      </p:pic>
      <p:pic>
        <p:nvPicPr>
          <p:cNvPr id="9" name="Picture 8" descr="A piece of paper with black writing&#10;&#10;AI-generated content may be incorrect.">
            <a:extLst>
              <a:ext uri="{FF2B5EF4-FFF2-40B4-BE49-F238E27FC236}">
                <a16:creationId xmlns:a16="http://schemas.microsoft.com/office/drawing/2014/main" id="{1739878B-6173-79EC-FBE3-D80469BE29A7}"/>
              </a:ext>
            </a:extLst>
          </p:cNvPr>
          <p:cNvPicPr>
            <a:picLocks noChangeAspect="1"/>
          </p:cNvPicPr>
          <p:nvPr/>
        </p:nvPicPr>
        <p:blipFill>
          <a:blip r:embed="rId5"/>
          <a:srcRect l="20529" t="20401" r="54497" b="8801"/>
          <a:stretch>
            <a:fillRect/>
          </a:stretch>
        </p:blipFill>
        <p:spPr>
          <a:xfrm rot="5400000">
            <a:off x="5238355" y="2920173"/>
            <a:ext cx="1857395" cy="3949186"/>
          </a:xfrm>
          <a:prstGeom prst="rect">
            <a:avLst/>
          </a:prstGeom>
          <a:ln w="38100">
            <a:solidFill>
              <a:schemeClr val="tx1"/>
            </a:solidFill>
          </a:ln>
        </p:spPr>
      </p:pic>
      <p:sp>
        <p:nvSpPr>
          <p:cNvPr id="10" name="TextBox 9">
            <a:extLst>
              <a:ext uri="{FF2B5EF4-FFF2-40B4-BE49-F238E27FC236}">
                <a16:creationId xmlns:a16="http://schemas.microsoft.com/office/drawing/2014/main" id="{391BF586-4FC0-7AEE-2417-B0E6BB36A624}"/>
              </a:ext>
            </a:extLst>
          </p:cNvPr>
          <p:cNvSpPr txBox="1"/>
          <p:nvPr/>
        </p:nvSpPr>
        <p:spPr>
          <a:xfrm>
            <a:off x="9151358" y="2139564"/>
            <a:ext cx="2145139" cy="523220"/>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Same Writer?</a:t>
            </a:r>
          </a:p>
        </p:txBody>
      </p:sp>
      <p:sp>
        <p:nvSpPr>
          <p:cNvPr id="11" name="TextBox 10">
            <a:extLst>
              <a:ext uri="{FF2B5EF4-FFF2-40B4-BE49-F238E27FC236}">
                <a16:creationId xmlns:a16="http://schemas.microsoft.com/office/drawing/2014/main" id="{EE516F95-5253-B83D-BD59-601E83AB99F4}"/>
              </a:ext>
            </a:extLst>
          </p:cNvPr>
          <p:cNvSpPr txBox="1"/>
          <p:nvPr/>
        </p:nvSpPr>
        <p:spPr>
          <a:xfrm>
            <a:off x="8918487" y="4633156"/>
            <a:ext cx="2658035"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Different Writer?</a:t>
            </a:r>
          </a:p>
        </p:txBody>
      </p:sp>
      <p:pic>
        <p:nvPicPr>
          <p:cNvPr id="15" name="Content Placeholder 4" descr="A piece of paper with writing on it&#10;&#10;AI-generated content may be incorrect.">
            <a:extLst>
              <a:ext uri="{FF2B5EF4-FFF2-40B4-BE49-F238E27FC236}">
                <a16:creationId xmlns:a16="http://schemas.microsoft.com/office/drawing/2014/main" id="{4CD1DBE4-77E7-520A-E5C1-3D0056DA6377}"/>
              </a:ext>
            </a:extLst>
          </p:cNvPr>
          <p:cNvPicPr>
            <a:picLocks noChangeAspect="1"/>
          </p:cNvPicPr>
          <p:nvPr/>
        </p:nvPicPr>
        <p:blipFill>
          <a:blip r:embed="rId4"/>
          <a:srcRect l="19016" t="25464" r="60958" b="14970"/>
          <a:stretch>
            <a:fillRect/>
          </a:stretch>
        </p:blipFill>
        <p:spPr>
          <a:xfrm rot="5400000">
            <a:off x="1355424" y="664940"/>
            <a:ext cx="1756260" cy="3917812"/>
          </a:xfrm>
          <a:prstGeom prst="rect">
            <a:avLst/>
          </a:prstGeom>
          <a:ln w="38100">
            <a:solidFill>
              <a:schemeClr val="tx1"/>
            </a:solidFill>
          </a:ln>
        </p:spPr>
      </p:pic>
      <p:pic>
        <p:nvPicPr>
          <p:cNvPr id="16" name="Content Placeholder 4" descr="A piece of paper with writing on it&#10;&#10;AI-generated content may be incorrect.">
            <a:extLst>
              <a:ext uri="{FF2B5EF4-FFF2-40B4-BE49-F238E27FC236}">
                <a16:creationId xmlns:a16="http://schemas.microsoft.com/office/drawing/2014/main" id="{27D151B2-DDB8-8F31-93E5-DA4DCD0A68EA}"/>
              </a:ext>
            </a:extLst>
          </p:cNvPr>
          <p:cNvPicPr>
            <a:picLocks noChangeAspect="1"/>
          </p:cNvPicPr>
          <p:nvPr/>
        </p:nvPicPr>
        <p:blipFill>
          <a:blip r:embed="rId4"/>
          <a:srcRect l="19016" t="28165" r="60958" b="14970"/>
          <a:stretch>
            <a:fillRect/>
          </a:stretch>
        </p:blipFill>
        <p:spPr>
          <a:xfrm rot="5400000">
            <a:off x="1322029" y="2922461"/>
            <a:ext cx="1854426" cy="3949187"/>
          </a:xfrm>
          <a:prstGeom prst="rect">
            <a:avLst/>
          </a:prstGeom>
          <a:ln w="38100">
            <a:solidFill>
              <a:schemeClr val="tx1"/>
            </a:solidFill>
          </a:ln>
        </p:spPr>
      </p:pic>
    </p:spTree>
    <p:extLst>
      <p:ext uri="{BB962C8B-B14F-4D97-AF65-F5344CB8AC3E}">
        <p14:creationId xmlns:p14="http://schemas.microsoft.com/office/powerpoint/2010/main" val="3380395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88C6-B72B-B4FD-1480-B9C9CAB5902D}"/>
            </a:ext>
          </a:extLst>
        </p:cNvPr>
        <p:cNvGrpSpPr/>
        <p:nvPr/>
      </p:nvGrpSpPr>
      <p:grpSpPr>
        <a:xfrm>
          <a:off x="0" y="0"/>
          <a:ext cx="0" cy="0"/>
          <a:chOff x="0" y="0"/>
          <a:chExt cx="0" cy="0"/>
        </a:xfrm>
      </p:grpSpPr>
      <p:pic>
        <p:nvPicPr>
          <p:cNvPr id="12" name="Picture 11" descr="A pencil drawing a line on a white surface">
            <a:extLst>
              <a:ext uri="{FF2B5EF4-FFF2-40B4-BE49-F238E27FC236}">
                <a16:creationId xmlns:a16="http://schemas.microsoft.com/office/drawing/2014/main" id="{A42E201C-00FA-8A0C-D731-C4FBE3CA1F9D}"/>
              </a:ext>
            </a:extLst>
          </p:cNvPr>
          <p:cNvPicPr>
            <a:picLocks noChangeAspect="1"/>
          </p:cNvPicPr>
          <p:nvPr/>
        </p:nvPicPr>
        <p:blipFill>
          <a:blip r:embed="rId3">
            <a:extLst>
              <a:ext uri="{BEBA8EAE-BF5A-486C-A8C5-ECC9F3942E4B}">
                <a14:imgProps xmlns:a14="http://schemas.microsoft.com/office/drawing/2010/main">
                  <a14:imgLayer r:embed="rId4">
                    <a14:imgEffect>
                      <a14:artisticMarker/>
                    </a14:imgEffect>
                    <a14:imgEffect>
                      <a14:sharpenSoften amount="50000"/>
                    </a14:imgEffect>
                    <a14:imgEffect>
                      <a14:brightnessContrast contrast="40000"/>
                    </a14:imgEffect>
                  </a14:imgLayer>
                </a14:imgProps>
              </a:ext>
            </a:extLst>
          </a:blip>
          <a:srcRect l="2125" r="6966" b="23391"/>
          <a:stretch>
            <a:fillRect/>
          </a:stretch>
        </p:blipFill>
        <p:spPr>
          <a:xfrm>
            <a:off x="21" y="10"/>
            <a:ext cx="12191979" cy="6857990"/>
          </a:xfrm>
          <a:prstGeom prst="rect">
            <a:avLst/>
          </a:prstGeom>
        </p:spPr>
      </p:pic>
      <p:sp>
        <p:nvSpPr>
          <p:cNvPr id="2" name="Title 1">
            <a:extLst>
              <a:ext uri="{FF2B5EF4-FFF2-40B4-BE49-F238E27FC236}">
                <a16:creationId xmlns:a16="http://schemas.microsoft.com/office/drawing/2014/main" id="{FB0A3E2C-4A80-5138-03D7-A7A9CF0FD809}"/>
              </a:ext>
            </a:extLst>
          </p:cNvPr>
          <p:cNvSpPr>
            <a:spLocks noGrp="1"/>
          </p:cNvSpPr>
          <p:nvPr>
            <p:ph type="title"/>
          </p:nvPr>
        </p:nvSpPr>
        <p:spPr>
          <a:xfrm>
            <a:off x="2195803" y="248284"/>
            <a:ext cx="7784951" cy="1333555"/>
          </a:xfrm>
        </p:spPr>
        <p:txBody>
          <a:bodyPr>
            <a:normAutofit/>
          </a:bodyPr>
          <a:lstStyle/>
          <a:p>
            <a:pPr algn="ctr"/>
            <a:r>
              <a:rPr lang="en-US" sz="4800" dirty="0">
                <a:ln w="3175">
                  <a:noFill/>
                </a:ln>
                <a:latin typeface="Times New Roman" panose="02020603050405020304" pitchFamily="18" charset="0"/>
                <a:cs typeface="Times New Roman" panose="02020603050405020304" pitchFamily="18" charset="0"/>
              </a:rPr>
              <a:t>The Approach</a:t>
            </a:r>
          </a:p>
        </p:txBody>
      </p:sp>
      <p:sp>
        <p:nvSpPr>
          <p:cNvPr id="3" name="TextBox 2">
            <a:extLst>
              <a:ext uri="{FF2B5EF4-FFF2-40B4-BE49-F238E27FC236}">
                <a16:creationId xmlns:a16="http://schemas.microsoft.com/office/drawing/2014/main" id="{8DA5C115-64AB-26FF-9FF7-1DDD29C22A31}"/>
              </a:ext>
            </a:extLst>
          </p:cNvPr>
          <p:cNvSpPr txBox="1"/>
          <p:nvPr/>
        </p:nvSpPr>
        <p:spPr>
          <a:xfrm>
            <a:off x="2211243" y="1267587"/>
            <a:ext cx="7769511" cy="1569660"/>
          </a:xfrm>
          <a:prstGeom prst="rect">
            <a:avLst/>
          </a:prstGeom>
          <a:solidFill>
            <a:srgbClr val="F2F4ED"/>
          </a:solidFill>
          <a:ln>
            <a:solidFill>
              <a:schemeClr val="tx1"/>
            </a:solidFill>
          </a:ln>
          <a:effectLst/>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The architecture is a Siamese Network is a two identical CNN branches that share the same weights process the two input images in parallel. Each branch produces a 256-dimensional embedding vector, and the Euclidean distance between those two vectors is what tells us how similar the two handwriting samples are. A small distance means same writer, a large distance means different writer. The network is trained with contrastive loss, which directly teaches it to pull same-writer pairs together and push different-writer pairs apart.</a:t>
            </a:r>
          </a:p>
        </p:txBody>
      </p:sp>
      <p:pic>
        <p:nvPicPr>
          <p:cNvPr id="5" name="Picture 4" descr="A diagram of a network structure&#10;&#10;AI-generated content may be incorrect.">
            <a:extLst>
              <a:ext uri="{FF2B5EF4-FFF2-40B4-BE49-F238E27FC236}">
                <a16:creationId xmlns:a16="http://schemas.microsoft.com/office/drawing/2014/main" id="{64FBF06A-A74B-A398-BC23-2E3BA76DABA7}"/>
              </a:ext>
            </a:extLst>
          </p:cNvPr>
          <p:cNvPicPr>
            <a:picLocks noChangeAspect="1"/>
          </p:cNvPicPr>
          <p:nvPr/>
        </p:nvPicPr>
        <p:blipFill>
          <a:blip r:embed="rId5"/>
          <a:stretch>
            <a:fillRect/>
          </a:stretch>
        </p:blipFill>
        <p:spPr>
          <a:xfrm>
            <a:off x="3135495" y="3189772"/>
            <a:ext cx="5921009" cy="3229641"/>
          </a:xfrm>
          <a:prstGeom prst="rect">
            <a:avLst/>
          </a:prstGeom>
        </p:spPr>
      </p:pic>
    </p:spTree>
    <p:extLst>
      <p:ext uri="{BB962C8B-B14F-4D97-AF65-F5344CB8AC3E}">
        <p14:creationId xmlns:p14="http://schemas.microsoft.com/office/powerpoint/2010/main" val="33335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9">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1" name="Rectangle 20">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2" name="Picture 1">
            <a:extLst>
              <a:ext uri="{FF2B5EF4-FFF2-40B4-BE49-F238E27FC236}">
                <a16:creationId xmlns:a16="http://schemas.microsoft.com/office/drawing/2014/main" id="{35E3F396-5EB9-A3D5-F179-77A9E866D48B}"/>
              </a:ext>
            </a:extLst>
          </p:cNvPr>
          <p:cNvPicPr>
            <a:picLocks noChangeAspect="1"/>
          </p:cNvPicPr>
          <p:nvPr/>
        </p:nvPicPr>
        <p:blipFill>
          <a:blip r:embed="rId2"/>
          <a:srcRect l="11919" t="6106" r="1" b="2986"/>
          <a:stretch>
            <a:fillRect/>
          </a:stretch>
        </p:blipFill>
        <p:spPr>
          <a:xfrm>
            <a:off x="20" y="10"/>
            <a:ext cx="12191979" cy="6857990"/>
          </a:xfrm>
          <a:prstGeom prst="rect">
            <a:avLst/>
          </a:prstGeom>
        </p:spPr>
      </p:pic>
      <p:sp>
        <p:nvSpPr>
          <p:cNvPr id="22" name="Rectangle 21">
            <a:extLst>
              <a:ext uri="{FF2B5EF4-FFF2-40B4-BE49-F238E27FC236}">
                <a16:creationId xmlns:a16="http://schemas.microsoft.com/office/drawing/2014/main" id="{AAB476BF-4EE2-5243-CABB-6CC72C39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3" name="Rectangle 22">
            <a:extLst>
              <a:ext uri="{FF2B5EF4-FFF2-40B4-BE49-F238E27FC236}">
                <a16:creationId xmlns:a16="http://schemas.microsoft.com/office/drawing/2014/main" id="{20D28EA4-6F96-F7C6-1D07-5BA5C2738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6781" y="508090"/>
            <a:ext cx="449275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8" name="Rectangle 17">
            <a:extLst>
              <a:ext uri="{FF2B5EF4-FFF2-40B4-BE49-F238E27FC236}">
                <a16:creationId xmlns:a16="http://schemas.microsoft.com/office/drawing/2014/main" id="{FDFF93C5-0576-D227-80A7-4CFBA879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0119" y="6209925"/>
            <a:ext cx="449275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6" name="Picture 5" descr="A yellow post-it note with a pink sticky tape&#10;&#10;AI-generated content may be incorrect.">
            <a:extLst>
              <a:ext uri="{FF2B5EF4-FFF2-40B4-BE49-F238E27FC236}">
                <a16:creationId xmlns:a16="http://schemas.microsoft.com/office/drawing/2014/main" id="{96A5D470-7F52-D6BD-753A-3557D928FD01}"/>
              </a:ext>
            </a:extLst>
          </p:cNvPr>
          <p:cNvPicPr>
            <a:picLocks noChangeAspect="1"/>
          </p:cNvPicPr>
          <p:nvPr/>
        </p:nvPicPr>
        <p:blipFill>
          <a:blip r:embed="rId3"/>
          <a:stretch>
            <a:fillRect/>
          </a:stretch>
        </p:blipFill>
        <p:spPr>
          <a:xfrm>
            <a:off x="6979920" y="520000"/>
            <a:ext cx="5122800" cy="5639384"/>
          </a:xfrm>
          <a:prstGeom prst="rect">
            <a:avLst/>
          </a:prstGeom>
        </p:spPr>
      </p:pic>
      <p:sp>
        <p:nvSpPr>
          <p:cNvPr id="4" name="TextBox 3">
            <a:extLst>
              <a:ext uri="{FF2B5EF4-FFF2-40B4-BE49-F238E27FC236}">
                <a16:creationId xmlns:a16="http://schemas.microsoft.com/office/drawing/2014/main" id="{3B86C7F3-02AE-CDDD-E617-014DFCF1DA07}"/>
              </a:ext>
            </a:extLst>
          </p:cNvPr>
          <p:cNvSpPr txBox="1"/>
          <p:nvPr/>
        </p:nvSpPr>
        <p:spPr>
          <a:xfrm>
            <a:off x="7306781" y="1926414"/>
            <a:ext cx="4492754" cy="3416320"/>
          </a:xfrm>
          <a:prstGeom prst="rect">
            <a:avLst/>
          </a:prstGeom>
          <a:noFill/>
          <a:ln>
            <a:noFill/>
          </a:ln>
        </p:spPr>
        <p:txBody>
          <a:bodyPr wrap="square" rtlCol="0">
            <a:spAutoFit/>
          </a:bodyPr>
          <a:lstStyle/>
          <a:p>
            <a:pPr algn="ctr"/>
            <a:r>
              <a:rPr lang="en-IN" sz="4000" b="1" dirty="0">
                <a:solidFill>
                  <a:schemeClr val="bg1"/>
                </a:solidFill>
                <a:latin typeface="Times New Roman" panose="02020603050405020304" pitchFamily="18" charset="0"/>
                <a:cs typeface="Times New Roman" panose="02020603050405020304" pitchFamily="18" charset="0"/>
              </a:rPr>
              <a:t>DATA</a:t>
            </a:r>
          </a:p>
          <a:p>
            <a:pPr algn="ctr"/>
            <a:r>
              <a:rPr lang="en-IN" sz="1600" b="1" dirty="0">
                <a:solidFill>
                  <a:schemeClr val="bg1"/>
                </a:solidFill>
                <a:latin typeface="Times New Roman" panose="02020603050405020304" pitchFamily="18" charset="0"/>
                <a:cs typeface="Times New Roman" panose="02020603050405020304" pitchFamily="18" charset="0"/>
              </a:rPr>
              <a:t>The main dataset is the IAM Handwriting Database, which contains word-level handwriting patches from over 600 writers. Training used 50,000 pairs sampled from 80% of the writers, with the remaining 20% held out for validation no writer appears in both sets. On top of that, a self-collected dataset was gathered from 6 people who each wrote the same fixed passage and a word list on paper and photographed it. None of these 6 writers appear anywhere in the training data, making it a genuine out-of-distribution test.</a:t>
            </a:r>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1599879"/>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65FF0A-951F-0646-B5F0-87F3F0BEC2B8}"/>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8E6824E-0701-7607-7CD1-13A46596BA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A pencil drawing a line on a white surface">
            <a:extLst>
              <a:ext uri="{FF2B5EF4-FFF2-40B4-BE49-F238E27FC236}">
                <a16:creationId xmlns:a16="http://schemas.microsoft.com/office/drawing/2014/main" id="{918EEB9E-C272-9B09-5046-CB4E2648F053}"/>
              </a:ext>
            </a:extLst>
          </p:cNvPr>
          <p:cNvPicPr>
            <a:picLocks noChangeAspect="1"/>
          </p:cNvPicPr>
          <p:nvPr/>
        </p:nvPicPr>
        <p:blipFill>
          <a:blip r:embed="rId2"/>
          <a:srcRect l="2125" r="6966" b="23391"/>
          <a:stretch>
            <a:fillRect/>
          </a:stretch>
        </p:blipFill>
        <p:spPr>
          <a:xfrm>
            <a:off x="20" y="10"/>
            <a:ext cx="12191979" cy="6857990"/>
          </a:xfrm>
          <a:prstGeom prst="rect">
            <a:avLst/>
          </a:prstGeom>
        </p:spPr>
      </p:pic>
      <p:sp>
        <p:nvSpPr>
          <p:cNvPr id="23" name="Rectangle 22">
            <a:extLst>
              <a:ext uri="{FF2B5EF4-FFF2-40B4-BE49-F238E27FC236}">
                <a16:creationId xmlns:a16="http://schemas.microsoft.com/office/drawing/2014/main" id="{3B2E2180-6991-ED44-FAC0-089895B0B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C28854F7-EC86-D4C1-A02D-A5B517F3A6E2}"/>
              </a:ext>
            </a:extLst>
          </p:cNvPr>
          <p:cNvSpPr>
            <a:spLocks noGrp="1"/>
          </p:cNvSpPr>
          <p:nvPr>
            <p:ph type="ctrTitle"/>
          </p:nvPr>
        </p:nvSpPr>
        <p:spPr>
          <a:xfrm>
            <a:off x="417751" y="1596048"/>
            <a:ext cx="4795819" cy="968726"/>
          </a:xfrm>
        </p:spPr>
        <p:txBody>
          <a:bodyPr anchor="t">
            <a:normAutofit/>
          </a:bodyPr>
          <a:lstStyle/>
          <a:p>
            <a:pPr algn="ctr">
              <a:lnSpc>
                <a:spcPct val="90000"/>
              </a:lnSpc>
            </a:pPr>
            <a:r>
              <a:rPr lang="en-IN" sz="4600" dirty="0">
                <a:ln w="3175">
                  <a:noFill/>
                </a:ln>
                <a:effectLst/>
                <a:latin typeface="Times New Roman" panose="02020603050405020304" pitchFamily="18" charset="0"/>
                <a:cs typeface="Times New Roman" panose="02020603050405020304" pitchFamily="18" charset="0"/>
              </a:rPr>
              <a:t>LIVE DEMO</a:t>
            </a:r>
            <a:endParaRPr lang="en-US" sz="4600" dirty="0">
              <a:ln w="3175">
                <a:noFill/>
              </a:ln>
              <a:effectLst/>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81C4080A-AEB8-1352-9103-F7E83E07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8" name="Picture 7" descr="A red circle with black text&#10;&#10;AI-generated content may be incorrect.">
            <a:extLst>
              <a:ext uri="{FF2B5EF4-FFF2-40B4-BE49-F238E27FC236}">
                <a16:creationId xmlns:a16="http://schemas.microsoft.com/office/drawing/2014/main" id="{8285E7B7-6CB3-B1A9-F785-56A64BEE79D2}"/>
              </a:ext>
            </a:extLst>
          </p:cNvPr>
          <p:cNvPicPr>
            <a:picLocks noChangeAspect="1"/>
          </p:cNvPicPr>
          <p:nvPr/>
        </p:nvPicPr>
        <p:blipFill>
          <a:blip r:embed="rId3"/>
          <a:stretch>
            <a:fillRect/>
          </a:stretch>
        </p:blipFill>
        <p:spPr>
          <a:xfrm>
            <a:off x="1816928" y="742962"/>
            <a:ext cx="1997464" cy="1057481"/>
          </a:xfrm>
          <a:prstGeom prst="rect">
            <a:avLst/>
          </a:prstGeom>
        </p:spPr>
      </p:pic>
    </p:spTree>
    <p:extLst>
      <p:ext uri="{BB962C8B-B14F-4D97-AF65-F5344CB8AC3E}">
        <p14:creationId xmlns:p14="http://schemas.microsoft.com/office/powerpoint/2010/main" val="250005975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AED11-4732-9DA9-9CAE-138355001C8E}"/>
            </a:ext>
          </a:extLst>
        </p:cNvPr>
        <p:cNvGrpSpPr/>
        <p:nvPr/>
      </p:nvGrpSpPr>
      <p:grpSpPr>
        <a:xfrm>
          <a:off x="0" y="0"/>
          <a:ext cx="0" cy="0"/>
          <a:chOff x="0" y="0"/>
          <a:chExt cx="0" cy="0"/>
        </a:xfrm>
      </p:grpSpPr>
      <p:pic>
        <p:nvPicPr>
          <p:cNvPr id="12" name="Picture 11" descr="A pencil drawing a line on a white surface">
            <a:extLst>
              <a:ext uri="{FF2B5EF4-FFF2-40B4-BE49-F238E27FC236}">
                <a16:creationId xmlns:a16="http://schemas.microsoft.com/office/drawing/2014/main" id="{A908C299-7A84-D979-A6B6-3EADA513662F}"/>
              </a:ext>
            </a:extLst>
          </p:cNvPr>
          <p:cNvPicPr>
            <a:picLocks noChangeAspect="1"/>
          </p:cNvPicPr>
          <p:nvPr/>
        </p:nvPicPr>
        <p:blipFill>
          <a:blip r:embed="rId3">
            <a:extLst>
              <a:ext uri="{BEBA8EAE-BF5A-486C-A8C5-ECC9F3942E4B}">
                <a14:imgProps xmlns:a14="http://schemas.microsoft.com/office/drawing/2010/main">
                  <a14:imgLayer r:embed="rId4">
                    <a14:imgEffect>
                      <a14:artisticMarker/>
                    </a14:imgEffect>
                    <a14:imgEffect>
                      <a14:sharpenSoften amount="50000"/>
                    </a14:imgEffect>
                    <a14:imgEffect>
                      <a14:brightnessContrast contrast="40000"/>
                    </a14:imgEffect>
                  </a14:imgLayer>
                </a14:imgProps>
              </a:ext>
            </a:extLst>
          </a:blip>
          <a:srcRect l="2125" r="6966" b="23391"/>
          <a:stretch>
            <a:fillRect/>
          </a:stretch>
        </p:blipFill>
        <p:spPr>
          <a:xfrm>
            <a:off x="21" y="10"/>
            <a:ext cx="12191979" cy="6857990"/>
          </a:xfrm>
          <a:prstGeom prst="rect">
            <a:avLst/>
          </a:prstGeom>
        </p:spPr>
      </p:pic>
      <p:sp>
        <p:nvSpPr>
          <p:cNvPr id="2" name="Title 1">
            <a:extLst>
              <a:ext uri="{FF2B5EF4-FFF2-40B4-BE49-F238E27FC236}">
                <a16:creationId xmlns:a16="http://schemas.microsoft.com/office/drawing/2014/main" id="{B0A646A5-9B9D-6289-B07A-BD0375B81ABD}"/>
              </a:ext>
            </a:extLst>
          </p:cNvPr>
          <p:cNvSpPr>
            <a:spLocks noGrp="1"/>
          </p:cNvSpPr>
          <p:nvPr>
            <p:ph type="title"/>
          </p:nvPr>
        </p:nvSpPr>
        <p:spPr>
          <a:xfrm>
            <a:off x="1520412" y="238108"/>
            <a:ext cx="3612227" cy="1333555"/>
          </a:xfrm>
        </p:spPr>
        <p:txBody>
          <a:bodyPr>
            <a:normAutofit/>
          </a:bodyPr>
          <a:lstStyle/>
          <a:p>
            <a:pPr algn="ctr"/>
            <a:r>
              <a:rPr lang="en-US" sz="4800" dirty="0">
                <a:ln w="3175">
                  <a:noFill/>
                </a:ln>
                <a:latin typeface="Times New Roman" panose="02020603050405020304" pitchFamily="18" charset="0"/>
                <a:cs typeface="Times New Roman" panose="02020603050405020304" pitchFamily="18" charset="0"/>
              </a:rPr>
              <a:t>Results</a:t>
            </a:r>
          </a:p>
        </p:txBody>
      </p:sp>
      <p:pic>
        <p:nvPicPr>
          <p:cNvPr id="4" name="Picture 3">
            <a:extLst>
              <a:ext uri="{FF2B5EF4-FFF2-40B4-BE49-F238E27FC236}">
                <a16:creationId xmlns:a16="http://schemas.microsoft.com/office/drawing/2014/main" id="{5D62CF1D-2644-B55B-36AA-A77FFBD6DA6C}"/>
              </a:ext>
            </a:extLst>
          </p:cNvPr>
          <p:cNvPicPr>
            <a:picLocks noChangeAspect="1"/>
          </p:cNvPicPr>
          <p:nvPr/>
        </p:nvPicPr>
        <p:blipFill>
          <a:blip r:embed="rId5"/>
          <a:srcRect l="2365" t="6519" r="3155" b="7838"/>
          <a:stretch>
            <a:fillRect/>
          </a:stretch>
        </p:blipFill>
        <p:spPr>
          <a:xfrm>
            <a:off x="215152" y="1266946"/>
            <a:ext cx="6239436" cy="196864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FDB79227-BF1E-90CB-159E-96526B76C5B5}"/>
              </a:ext>
            </a:extLst>
          </p:cNvPr>
          <p:cNvPicPr>
            <a:picLocks noChangeAspect="1"/>
          </p:cNvPicPr>
          <p:nvPr/>
        </p:nvPicPr>
        <p:blipFill>
          <a:blip r:embed="rId6"/>
          <a:srcRect l="1734" t="6488" r="15989" b="4425"/>
          <a:stretch>
            <a:fillRect/>
          </a:stretch>
        </p:blipFill>
        <p:spPr>
          <a:xfrm>
            <a:off x="711246" y="3473702"/>
            <a:ext cx="4421393" cy="3146190"/>
          </a:xfrm>
          <a:prstGeom prst="rect">
            <a:avLst/>
          </a:prstGeom>
        </p:spPr>
      </p:pic>
      <p:sp>
        <p:nvSpPr>
          <p:cNvPr id="8" name="TextBox 7">
            <a:extLst>
              <a:ext uri="{FF2B5EF4-FFF2-40B4-BE49-F238E27FC236}">
                <a16:creationId xmlns:a16="http://schemas.microsoft.com/office/drawing/2014/main" id="{C562BBA3-979C-C131-C128-D05249B0F2DD}"/>
              </a:ext>
            </a:extLst>
          </p:cNvPr>
          <p:cNvSpPr txBox="1"/>
          <p:nvPr/>
        </p:nvSpPr>
        <p:spPr>
          <a:xfrm>
            <a:off x="7906849" y="4556584"/>
            <a:ext cx="4152473" cy="2185214"/>
          </a:xfrm>
          <a:prstGeom prst="rect">
            <a:avLst/>
          </a:prstGeom>
          <a:noFill/>
        </p:spPr>
        <p:txBody>
          <a:bodyPr wrap="square" rtlCol="0">
            <a:spAutoFit/>
          </a:bodyPr>
          <a:lstStyle/>
          <a:p>
            <a:pPr algn="ctr"/>
            <a:r>
              <a:rPr lang="en-IN" sz="1700" dirty="0">
                <a:latin typeface="Times New Roman" panose="02020603050405020304" pitchFamily="18" charset="0"/>
                <a:cs typeface="Times New Roman" panose="02020603050405020304" pitchFamily="18" charset="0"/>
              </a:rPr>
              <a:t>The model performs noticeably better on the self-collected dataset despite never seeing those writers during training. The cleaner, line-level images give the network more handwriting style to work with compared to the small noisy word patches from IAM, which explains most of the gap between the two numbers.</a:t>
            </a: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8704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27B982-7D86-4BC5-D93A-83F99B82F45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CD0D193-B981-FE7D-7D46-D739C7E5B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F3DB86C-3349-47B4-489C-13F5F239F48B}"/>
              </a:ext>
            </a:extLst>
          </p:cNvPr>
          <p:cNvSpPr>
            <a:spLocks noGrp="1"/>
          </p:cNvSpPr>
          <p:nvPr>
            <p:ph type="title"/>
          </p:nvPr>
        </p:nvSpPr>
        <p:spPr>
          <a:xfrm>
            <a:off x="6437376" y="978408"/>
            <a:ext cx="5230368" cy="1463040"/>
          </a:xfrm>
        </p:spPr>
        <p:txBody>
          <a:bodyPr vert="horz" lIns="91440" tIns="45720" rIns="91440" bIns="45720" rtlCol="0" anchor="t">
            <a:noAutofit/>
          </a:bodyPr>
          <a:lstStyle/>
          <a:p>
            <a:pPr algn="ctr"/>
            <a:r>
              <a:rPr lang="en-US" sz="4800" b="1" kern="1200" dirty="0">
                <a:solidFill>
                  <a:schemeClr val="tx1"/>
                </a:solidFill>
                <a:latin typeface="Times New Roman" panose="02020603050405020304" pitchFamily="18" charset="0"/>
                <a:cs typeface="Times New Roman" panose="02020603050405020304" pitchFamily="18" charset="0"/>
              </a:rPr>
              <a:t>What I'd Do Differently</a:t>
            </a:r>
            <a:endParaRPr lang="en-US" sz="4800" b="1" kern="1200" dirty="0">
              <a:ln w="3175">
                <a:noFill/>
              </a:ln>
              <a:solidFill>
                <a:schemeClr val="tx1"/>
              </a:solidFill>
              <a:latin typeface="Times New Roman" panose="02020603050405020304" pitchFamily="18" charset="0"/>
              <a:cs typeface="Times New Roman" panose="02020603050405020304" pitchFamily="18" charset="0"/>
            </a:endParaRPr>
          </a:p>
        </p:txBody>
      </p:sp>
      <p:pic>
        <p:nvPicPr>
          <p:cNvPr id="12" name="Picture 11" descr="A pencil drawing a line on a white surface">
            <a:extLst>
              <a:ext uri="{FF2B5EF4-FFF2-40B4-BE49-F238E27FC236}">
                <a16:creationId xmlns:a16="http://schemas.microsoft.com/office/drawing/2014/main" id="{F0A6AF1B-D22D-0E78-5491-45DC592E7EBB}"/>
              </a:ext>
            </a:extLst>
          </p:cNvPr>
          <p:cNvPicPr>
            <a:picLocks noChangeAspect="1"/>
          </p:cNvPicPr>
          <p:nvPr/>
        </p:nvPicPr>
        <p:blipFill>
          <a:blip r:embed="rId3">
            <a:extLst>
              <a:ext uri="{BEBA8EAE-BF5A-486C-A8C5-ECC9F3942E4B}">
                <a14:imgProps xmlns:a14="http://schemas.microsoft.com/office/drawing/2010/main">
                  <a14:imgLayer r:embed="rId4">
                    <a14:imgEffect>
                      <a14:artisticMarker/>
                    </a14:imgEffect>
                    <a14:imgEffect>
                      <a14:sharpenSoften amount="50000"/>
                    </a14:imgEffect>
                    <a14:imgEffect>
                      <a14:brightnessContrast contrast="40000"/>
                    </a14:imgEffect>
                  </a14:imgLayer>
                </a14:imgProps>
              </a:ext>
            </a:extLst>
          </a:blip>
          <a:srcRect r="-2" b="17653"/>
          <a:stretch>
            <a:fillRect/>
          </a:stretch>
        </p:blipFill>
        <p:spPr>
          <a:xfrm>
            <a:off x="517870" y="508090"/>
            <a:ext cx="5057307" cy="2779776"/>
          </a:xfrm>
          <a:prstGeom prst="rect">
            <a:avLst/>
          </a:prstGeom>
        </p:spPr>
      </p:pic>
      <p:sp>
        <p:nvSpPr>
          <p:cNvPr id="19" name="Rectangle 18">
            <a:extLst>
              <a:ext uri="{FF2B5EF4-FFF2-40B4-BE49-F238E27FC236}">
                <a16:creationId xmlns:a16="http://schemas.microsoft.com/office/drawing/2014/main" id="{14435763-D116-E6B0-3992-6801EF0F0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3314" y="508090"/>
            <a:ext cx="523036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9674808-A505-525E-2862-2271DEEC78B4}"/>
              </a:ext>
            </a:extLst>
          </p:cNvPr>
          <p:cNvPicPr>
            <a:picLocks noChangeAspect="1"/>
          </p:cNvPicPr>
          <p:nvPr/>
        </p:nvPicPr>
        <p:blipFill>
          <a:blip r:embed="rId5"/>
          <a:srcRect l="403" r="442" b="-2"/>
          <a:stretch>
            <a:fillRect/>
          </a:stretch>
        </p:blipFill>
        <p:spPr>
          <a:xfrm>
            <a:off x="517870" y="3566160"/>
            <a:ext cx="5057307" cy="2779776"/>
          </a:xfrm>
          <a:prstGeom prst="rect">
            <a:avLst/>
          </a:prstGeom>
        </p:spPr>
      </p:pic>
      <p:sp>
        <p:nvSpPr>
          <p:cNvPr id="3" name="TextBox 2">
            <a:extLst>
              <a:ext uri="{FF2B5EF4-FFF2-40B4-BE49-F238E27FC236}">
                <a16:creationId xmlns:a16="http://schemas.microsoft.com/office/drawing/2014/main" id="{B72E9C15-ED56-07E0-D5C3-4EE971E3724D}"/>
              </a:ext>
            </a:extLst>
          </p:cNvPr>
          <p:cNvSpPr txBox="1"/>
          <p:nvPr/>
        </p:nvSpPr>
        <p:spPr>
          <a:xfrm>
            <a:off x="6437376" y="2777624"/>
            <a:ext cx="5514370" cy="4080376"/>
          </a:xfrm>
          <a:prstGeom prst="rect">
            <a:avLst/>
          </a:prstGeom>
        </p:spPr>
        <p:txBody>
          <a:bodyPr vert="horz" lIns="91440" tIns="45720" rIns="91440" bIns="45720" rtlCol="0">
            <a:normAutofit fontScale="92500" lnSpcReduction="10000"/>
          </a:bodyPr>
          <a:lstStyle/>
          <a:p>
            <a:pPr algn="ctr"/>
            <a:r>
              <a:rPr lang="en-IN" sz="2400" dirty="0">
                <a:latin typeface="Times New Roman" panose="02020603050405020304" pitchFamily="18" charset="0"/>
                <a:cs typeface="Times New Roman" panose="02020603050405020304" pitchFamily="18" charset="0"/>
              </a:rPr>
              <a:t>The biggest single improvement would be switching from word-level to line-level patches during training, the self-collected results make a strong case for that. Beyond that, triplet loss with hard negative mining would force the network to focus on the most confusing pairs rather than easy ones, which tends to produce much better embeddings. More training data with augmentation like random rotation and elastic distortion would also help the model stop relying on absolute stroke orientation and focus more on relative style features.</a:t>
            </a:r>
          </a:p>
        </p:txBody>
      </p:sp>
    </p:spTree>
    <p:extLst>
      <p:ext uri="{BB962C8B-B14F-4D97-AF65-F5344CB8AC3E}">
        <p14:creationId xmlns:p14="http://schemas.microsoft.com/office/powerpoint/2010/main" val="4269918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105C4E-E085-46A6-996D-A56BC1449D7E}"/>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FB12761-EBC5-B21A-2755-36F97389E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A pencil drawing a line on a white surface">
            <a:extLst>
              <a:ext uri="{FF2B5EF4-FFF2-40B4-BE49-F238E27FC236}">
                <a16:creationId xmlns:a16="http://schemas.microsoft.com/office/drawing/2014/main" id="{7DA6C8E1-1CD7-4109-D320-8452BB8D2390}"/>
              </a:ext>
            </a:extLst>
          </p:cNvPr>
          <p:cNvPicPr>
            <a:picLocks noChangeAspect="1"/>
          </p:cNvPicPr>
          <p:nvPr/>
        </p:nvPicPr>
        <p:blipFill>
          <a:blip r:embed="rId2"/>
          <a:srcRect l="2125" r="6966" b="23391"/>
          <a:stretch>
            <a:fillRect/>
          </a:stretch>
        </p:blipFill>
        <p:spPr>
          <a:xfrm>
            <a:off x="20" y="10"/>
            <a:ext cx="12191979" cy="6857990"/>
          </a:xfrm>
          <a:prstGeom prst="rect">
            <a:avLst/>
          </a:prstGeom>
        </p:spPr>
      </p:pic>
      <p:sp>
        <p:nvSpPr>
          <p:cNvPr id="23" name="Rectangle 22">
            <a:extLst>
              <a:ext uri="{FF2B5EF4-FFF2-40B4-BE49-F238E27FC236}">
                <a16:creationId xmlns:a16="http://schemas.microsoft.com/office/drawing/2014/main" id="{4CE35A92-6C17-7BD7-4517-31CA7EC117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50A017D4-9CF4-5464-EE60-05CDB5537BB9}"/>
              </a:ext>
            </a:extLst>
          </p:cNvPr>
          <p:cNvSpPr>
            <a:spLocks noGrp="1"/>
          </p:cNvSpPr>
          <p:nvPr>
            <p:ph type="ctrTitle"/>
          </p:nvPr>
        </p:nvSpPr>
        <p:spPr>
          <a:xfrm>
            <a:off x="417751" y="853477"/>
            <a:ext cx="4795819" cy="1360663"/>
          </a:xfrm>
        </p:spPr>
        <p:txBody>
          <a:bodyPr anchor="t">
            <a:noAutofit/>
          </a:bodyPr>
          <a:lstStyle/>
          <a:p>
            <a:pPr algn="ctr">
              <a:lnSpc>
                <a:spcPct val="90000"/>
              </a:lnSpc>
            </a:pPr>
            <a:r>
              <a:rPr lang="en-IN" sz="6600" dirty="0">
                <a:ln w="3175">
                  <a:noFill/>
                </a:ln>
                <a:solidFill>
                  <a:schemeClr val="bg1"/>
                </a:solidFill>
                <a:effectLst/>
                <a:latin typeface="Times New Roman" panose="02020603050405020304" pitchFamily="18" charset="0"/>
                <a:cs typeface="Times New Roman" panose="02020603050405020304" pitchFamily="18" charset="0"/>
              </a:rPr>
              <a:t>Thank</a:t>
            </a:r>
            <a:br>
              <a:rPr lang="en-IN" sz="6600" dirty="0">
                <a:ln w="3175">
                  <a:noFill/>
                </a:ln>
                <a:solidFill>
                  <a:schemeClr val="bg1"/>
                </a:solidFill>
                <a:effectLst/>
                <a:latin typeface="Times New Roman" panose="02020603050405020304" pitchFamily="18" charset="0"/>
                <a:cs typeface="Times New Roman" panose="02020603050405020304" pitchFamily="18" charset="0"/>
              </a:rPr>
            </a:br>
            <a:r>
              <a:rPr lang="en-IN" sz="6600" dirty="0">
                <a:ln w="3175">
                  <a:noFill/>
                </a:ln>
                <a:solidFill>
                  <a:schemeClr val="bg1"/>
                </a:solidFill>
                <a:effectLst/>
                <a:latin typeface="Times New Roman" panose="02020603050405020304" pitchFamily="18" charset="0"/>
                <a:cs typeface="Times New Roman" panose="02020603050405020304" pitchFamily="18" charset="0"/>
              </a:rPr>
              <a:t>You</a:t>
            </a:r>
            <a:endParaRPr lang="en-US" sz="6600" dirty="0">
              <a:ln w="3175">
                <a:noFill/>
              </a:ln>
              <a:solidFill>
                <a:schemeClr val="bg1"/>
              </a:solidFill>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28B60A5-CE92-A86B-89E2-02F941C82F1D}"/>
              </a:ext>
            </a:extLst>
          </p:cNvPr>
          <p:cNvSpPr>
            <a:spLocks noGrp="1"/>
          </p:cNvSpPr>
          <p:nvPr>
            <p:ph type="subTitle" idx="1"/>
          </p:nvPr>
        </p:nvSpPr>
        <p:spPr>
          <a:xfrm>
            <a:off x="6096000" y="6229570"/>
            <a:ext cx="5836737" cy="508080"/>
          </a:xfrm>
        </p:spPr>
        <p:txBody>
          <a:bodyPr anchor="b">
            <a:normAutofit/>
          </a:bodyPr>
          <a:lstStyle/>
          <a:p>
            <a:pPr algn="ctr">
              <a:lnSpc>
                <a:spcPct val="100000"/>
              </a:lnSpc>
            </a:pPr>
            <a:r>
              <a:rPr lang="en-US" sz="2000" i="0" dirty="0">
                <a:solidFill>
                  <a:schemeClr val="bg1"/>
                </a:solidFill>
                <a:latin typeface="Times New Roman" panose="02020603050405020304" pitchFamily="18" charset="0"/>
                <a:cs typeface="Times New Roman" panose="02020603050405020304" pitchFamily="18" charset="0"/>
              </a:rPr>
              <a:t>CS5330 Pattern Recognition and Computer Vision</a:t>
            </a:r>
          </a:p>
        </p:txBody>
      </p:sp>
      <p:sp>
        <p:nvSpPr>
          <p:cNvPr id="24" name="Rectangle 23">
            <a:extLst>
              <a:ext uri="{FF2B5EF4-FFF2-40B4-BE49-F238E27FC236}">
                <a16:creationId xmlns:a16="http://schemas.microsoft.com/office/drawing/2014/main" id="{D9E200F3-E56F-28C4-5FD6-68BE52560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428454113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376</Words>
  <Application>Microsoft Macintosh PowerPoint</Application>
  <PresentationFormat>Widescreen</PresentationFormat>
  <Paragraphs>20</Paragraphs>
  <Slides>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Bierstadt</vt:lpstr>
      <vt:lpstr>Neue Haas Grotesk Text Pro</vt:lpstr>
      <vt:lpstr>Times New Roman</vt:lpstr>
      <vt:lpstr>GestaltVTI</vt:lpstr>
      <vt:lpstr>ForgeryGuard: Handwriting Forgery Detection using Siamese Networks</vt:lpstr>
      <vt:lpstr>The Problem</vt:lpstr>
      <vt:lpstr>The Approach</vt:lpstr>
      <vt:lpstr>PowerPoint Presentation</vt:lpstr>
      <vt:lpstr>LIVE DEMO</vt:lpstr>
      <vt:lpstr>Results</vt:lpstr>
      <vt:lpstr>What I'd Do Differently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Shamya Mitesh Haria</dc:creator>
  <cp:lastModifiedBy>Shamya Mitesh Haria</cp:lastModifiedBy>
  <cp:revision>3</cp:revision>
  <dcterms:created xsi:type="dcterms:W3CDTF">2026-04-22T20:26:48Z</dcterms:created>
  <dcterms:modified xsi:type="dcterms:W3CDTF">2026-04-22T21:53:30Z</dcterms:modified>
</cp:coreProperties>
</file>